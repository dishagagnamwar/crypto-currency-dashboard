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E1117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E1117"/>
                </a:solidFill>
                <a:latin typeface="Calibri"/>
              </a:rPr>
              <a:t>Top 10 Coins by Market Cap (USD)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Cap (USD)</c:v>
                </c:pt>
              </c:strCache>
            </c:strRef>
          </c:tx>
          <c:spPr>
            <a:solidFill>
              <a:srgbClr val="2DD4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Bitcoin</c:v>
                  </c:pt>
                  <c:pt idx="1">
                    <c:v>Ethereum</c:v>
                  </c:pt>
                  <c:pt idx="2">
                    <c:v>Tether</c:v>
                  </c:pt>
                  <c:pt idx="3">
                    <c:v>BNB</c:v>
                  </c:pt>
                  <c:pt idx="4">
                    <c:v>USDC</c:v>
                  </c:pt>
                  <c:pt idx="5">
                    <c:v>XRP</c:v>
                  </c:pt>
                  <c:pt idx="6">
                    <c:v>Solana</c:v>
                  </c:pt>
                  <c:pt idx="7">
                    <c:v>TRON</c:v>
                  </c:pt>
                  <c:pt idx="8">
                    <c:v>Figure Heloc</c:v>
                  </c:pt>
                  <c:pt idx="9">
                    <c:v>Hyperliquid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1295280324805</c:v>
                </c:pt>
                <c:pt idx="1">
                  <c:v>210733519729</c:v>
                </c:pt>
                <c:pt idx="2">
                  <c:v>186379283227</c:v>
                </c:pt>
                <c:pt idx="3">
                  <c:v>81604915830</c:v>
                </c:pt>
                <c:pt idx="4">
                  <c:v>74839181733</c:v>
                </c:pt>
                <c:pt idx="5">
                  <c:v>73945854499</c:v>
                </c:pt>
                <c:pt idx="6">
                  <c:v>41651254069</c:v>
                </c:pt>
                <c:pt idx="7">
                  <c:v>30333953068</c:v>
                </c:pt>
                <c:pt idx="8">
                  <c:v>19545803751</c:v>
                </c:pt>
                <c:pt idx="9">
                  <c:v>15618605973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800000"/>
          <a:lstStyle/>
          <a:p>
            <a:pPr>
              <a:defRPr sz="850" b="0" i="0" u="none" strike="noStrike">
                <a:solidFill>
                  <a:srgbClr val="68707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9EE"/>
              </a:solidFill>
              <a:prstDash val="solid"/>
              <a:round/>
            </a:ln>
          </c:spPr>
        </c:majorGridlines>
        <c:numFmt formatCode="$#,##0,,,&quot;B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8707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0E1117"/>
                </a:solidFill>
                <a:latin typeface="Calibri"/>
              </a:defRPr>
            </a:pPr>
            <a:r>
              <a:rPr sz="1250" b="0" i="0" u="none" strike="noStrike">
                <a:solidFill>
                  <a:srgbClr val="0E1117"/>
                </a:solidFill>
                <a:latin typeface="Calibri"/>
              </a:rPr>
              <a:t>Sum(Low 24h) vs Sum(High 24h) — across all 100 coins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24h Range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DD4BF"/>
              </a:solidFill>
              <a:effectLst/>
            </c:spPr>
          </c:dPt>
          <c:dPt>
            <c:idx val="1"/>
            <c:bubble3D val="0"/>
            <c:spPr>
              <a:solidFill>
                <a:srgbClr val="8B5CF6"/>
              </a:solidFill>
              <a:effectLst/>
            </c:spPr>
          </c:dPt>
          <c:dLbls>
            <c:dLbl>
              <c:idx val="0"/>
              <c:numFmt formatCode="$#,##0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$#,##0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$#,##0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Sum of Low 24h</c:v>
                </c:pt>
                <c:pt idx="1">
                  <c:v>Sum of High 24h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77484</c:v>
                </c:pt>
                <c:pt idx="1">
                  <c:v>79930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61A23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0E1117"/>
                </a:solidFill>
                <a:latin typeface="Calibri"/>
              </a:defRPr>
            </a:pPr>
            <a:r>
              <a:rPr sz="1250" b="0" i="0" u="none" strike="noStrike">
                <a:solidFill>
                  <a:srgbClr val="0E1117"/>
                </a:solidFill>
                <a:latin typeface="Calibri"/>
              </a:rPr>
              <a:t>Biggest 24h Losers (left) vs. Biggest Gainers (right)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24h % Change</c:v>
                </c:pt>
              </c:strCache>
            </c:strRef>
          </c:tx>
          <c:spPr>
            <a:solidFill>
              <a:srgbClr val="EF4444"/>
            </a:solidFill>
            <a:ln w="9525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E111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Audiera</c:v>
                  </c:pt>
                  <c:pt idx="1">
                    <c:v>DeXe</c:v>
                  </c:pt>
                  <c:pt idx="2">
                    <c:v>Injective</c:v>
                  </c:pt>
                  <c:pt idx="3">
                    <c:v>Hyperliquid</c:v>
                  </c:pt>
                  <c:pt idx="4">
                    <c:v>Cardano</c:v>
                  </c:pt>
                  <c:pt idx="5">
                    <c:v>World Liberty Fin.</c:v>
                  </c:pt>
                  <c:pt idx="6">
                    <c:v>JUST</c:v>
                  </c:pt>
                  <c:pt idx="7">
                    <c:v>Venice Token</c:v>
                  </c:pt>
                  <c:pt idx="8">
                    <c:v>Uniswap</c:v>
                  </c:pt>
                  <c:pt idx="9">
                    <c:v>Aster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-40.61</c:v>
                </c:pt>
                <c:pt idx="1">
                  <c:v>-15.45</c:v>
                </c:pt>
                <c:pt idx="2">
                  <c:v>-9.97</c:v>
                </c:pt>
                <c:pt idx="3">
                  <c:v>-7.23</c:v>
                </c:pt>
                <c:pt idx="4">
                  <c:v>-6.53</c:v>
                </c:pt>
                <c:pt idx="5">
                  <c:v>0.88</c:v>
                </c:pt>
                <c:pt idx="6">
                  <c:v>1.63</c:v>
                </c:pt>
                <c:pt idx="7">
                  <c:v>3.82</c:v>
                </c:pt>
                <c:pt idx="8">
                  <c:v>8.42</c:v>
                </c:pt>
                <c:pt idx="9">
                  <c:v>13.07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0E111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8707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3E9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8707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0E1117"/>
                </a:solidFill>
                <a:latin typeface="Calibri"/>
              </a:defRPr>
            </a:pPr>
            <a:r>
              <a:rPr sz="1250" b="0" i="0" u="none" strike="noStrike">
                <a:solidFill>
                  <a:srgbClr val="0E1117"/>
                </a:solidFill>
                <a:latin typeface="Calibri"/>
              </a:rPr>
              <a:t>Risk Classification Across 100 Tracked Coins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Risk Type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DD4BF"/>
              </a:solidFill>
              <a:effectLst/>
            </c:spPr>
          </c:dPt>
          <c:dPt>
            <c:idx val="1"/>
            <c:bubble3D val="0"/>
            <c:spPr>
              <a:solidFill>
                <a:srgbClr val="EF4444"/>
              </a:solidFill>
              <a:effectLst/>
            </c:spPr>
          </c:dPt>
          <c:dPt>
            <c:idx val="2"/>
            <c:bubble3D val="0"/>
            <c:spPr>
              <a:solidFill>
                <a:srgbClr val="D1D5DB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LOW RISK (94)</c:v>
                </c:pt>
                <c:pt idx="1">
                  <c:v>HIGH RISK (5)</c:v>
                </c:pt>
                <c:pt idx="2">
                  <c:v>Unclassified (1)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94</c:v>
                </c:pt>
                <c:pt idx="1">
                  <c:v>5</c:v>
                </c:pt>
                <c:pt idx="2">
                  <c:v>1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61A23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2011680"/>
            <a:ext cx="7315200" cy="7315200"/>
          </a:xfrm>
          <a:prstGeom prst="ellipse">
            <a:avLst/>
          </a:prstGeom>
          <a:ln w="19050">
            <a:solidFill>
              <a:srgbClr val="2DD4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95360" y="-1463040"/>
            <a:ext cx="6035040" cy="6035040"/>
          </a:xfrm>
          <a:prstGeom prst="ellipse">
            <a:avLst/>
          </a:prstGeom>
          <a:ln w="19050">
            <a:solidFill>
              <a:srgbClr val="8B5C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-914400"/>
            <a:ext cx="4754880" cy="4754880"/>
          </a:xfrm>
          <a:prstGeom prst="ellipse">
            <a:avLst/>
          </a:prstGeom>
          <a:ln w="12700">
            <a:solidFill>
              <a:srgbClr val="8FE3D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554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CASE STUDY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65960"/>
            <a:ext cx="9601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Cryptocurrency Market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84048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Power BI analysis of price, market cap, and risk across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8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100 tracked cryptocurrencies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2120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$2.25T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77900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8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MARKET CAP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52120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577900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8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COINS TRACKED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52120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57.6%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0" y="577900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8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DOMINANCE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dated June 17, 2026  |  Prepared by: Data Analytics Team  |  Tool: Power BI  |  September 2026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INTRODUCTION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Report Covers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5943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6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examines a Power BI dashboard built on a snapshot of the top 100 cryptocurrencies by market capitalization — covering price, market cap, 24-hour trading range, and a custom risk classification. The underlying data model embeds a live-style market pull (CoinGecko-style fields) captured on June 17, 2026.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11880"/>
            <a:ext cx="5943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6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workbook spans five report pages: a Market Cap table, a Price table, an interactive Price Calculator, a Risk overview, and a central “Crypto Currency Analysis” summary page with KPI cards, slicers, and a Low/High comparison chart. This report translates all five into a single decision-ready narrative.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903720" y="1463040"/>
            <a:ext cx="4754880" cy="4846320"/>
          </a:xfrm>
          <a:prstGeom prst="roundRect">
            <a:avLst>
              <a:gd name="adj" fmla="val 1538"/>
            </a:avLst>
          </a:prstGeom>
          <a:solidFill>
            <a:srgbClr val="F4F5F7"/>
          </a:solidFill>
          <a:ln w="12700">
            <a:solidFill>
              <a:srgbClr val="E3E9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223760" y="17373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AT A GLANCE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223760" y="219456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8458200" y="2267712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Cryptocurrencies tracked, ranked by market cap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223760" y="2907792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8458200" y="2980944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fields per coin (price, supply, ATH/ATL, etc.)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3621024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8458200" y="3694176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Power BI report pages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7223760" y="4334256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8458200" y="4407408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DAX investment calculator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223760" y="5212080"/>
            <a:ext cx="826618" cy="384048"/>
          </a:xfrm>
          <a:prstGeom prst="roundRect">
            <a:avLst>
              <a:gd name="adj" fmla="val 50000"/>
            </a:avLst>
          </a:prstGeom>
          <a:solidFill>
            <a:srgbClr val="0E111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223760" y="5212080"/>
            <a:ext cx="82661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187538" y="5212080"/>
            <a:ext cx="1682496" cy="384048"/>
          </a:xfrm>
          <a:prstGeom prst="roundRect">
            <a:avLst>
              <a:gd name="adj" fmla="val 50000"/>
            </a:avLst>
          </a:prstGeom>
          <a:solidFill>
            <a:srgbClr val="0E111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187538" y="5212080"/>
            <a:ext cx="16824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CoinGecko-style Data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223760" y="5715000"/>
            <a:ext cx="1539850" cy="384048"/>
          </a:xfrm>
          <a:prstGeom prst="roundRect">
            <a:avLst>
              <a:gd name="adj" fmla="val 50000"/>
            </a:avLst>
          </a:prstGeom>
          <a:solidFill>
            <a:srgbClr val="0E111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223760" y="5715000"/>
            <a:ext cx="153985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Snapshot: Jun 2026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8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CRYPTOCURRENCY MARKET DASHBOARD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PROBLEM STATEMENT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Questions Driving This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74520"/>
            <a:ext cx="502920" cy="50292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3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85623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Concentration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423160"/>
            <a:ext cx="4892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6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concentrated is the tracked crypto market — does a small handful of coins dominate total value?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09360" y="160020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1874520"/>
            <a:ext cx="502920" cy="50292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8368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30" dirty="0"/>
          </a:p>
        </p:txBody>
      </p:sp>
      <p:sp>
        <p:nvSpPr>
          <p:cNvPr id="12" name="Text 10"/>
          <p:cNvSpPr txBox="1"/>
          <p:nvPr/>
        </p:nvSpPr>
        <p:spPr>
          <a:xfrm>
            <a:off x="7269480" y="185623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Volatility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2423160"/>
            <a:ext cx="4892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6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coins moved the most in the last 24 hours, and how broad was the market-wide swing?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160520"/>
            <a:ext cx="502920" cy="50292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160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3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14223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Classification</a:t>
            </a:r>
            <a:endParaRPr lang="en-US" sz="16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709160"/>
            <a:ext cx="4892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6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a coin “high risk” in this model, and how many of the 100 tracked coins fall into that bucket?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09360" y="388620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0" y="4160520"/>
            <a:ext cx="502920" cy="50292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83680" y="4160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30" dirty="0"/>
          </a:p>
        </p:txBody>
      </p:sp>
      <p:sp>
        <p:nvSpPr>
          <p:cNvPr id="22" name="Text 20"/>
          <p:cNvSpPr txBox="1"/>
          <p:nvPr/>
        </p:nvSpPr>
        <p:spPr>
          <a:xfrm>
            <a:off x="7269480" y="414223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Investment Planning</a:t>
            </a:r>
            <a:endParaRPr lang="en-US" sz="1650" dirty="0"/>
          </a:p>
        </p:txBody>
      </p:sp>
      <p:sp>
        <p:nvSpPr>
          <p:cNvPr id="23" name="Text 21"/>
          <p:cNvSpPr txBox="1"/>
          <p:nvPr/>
        </p:nvSpPr>
        <p:spPr>
          <a:xfrm>
            <a:off x="6583680" y="4709160"/>
            <a:ext cx="4892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6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user quickly estimate the cost of buying a given quantity of any tracked coin at its current price?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8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CRYPTOCURRENCY MARKET DASHBOARD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DATA DESCRIPTION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Behind the Dashboard: The Dataset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Fields Used in the Model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929384"/>
            <a:ext cx="91440" cy="9144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801368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/ symbol / image  —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6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 identity, used across every table and slicer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450592"/>
            <a:ext cx="91440" cy="9144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322576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current_price  —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6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tracked price in USD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91440" cy="9144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843784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market_cap / market_cap_rank  —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6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value and rank among tracked coins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493008"/>
            <a:ext cx="91440" cy="9144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3364992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high_24h / low_24h  —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6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24-hour trading range, feeds the Low/High pie chart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014216"/>
            <a:ext cx="91440" cy="9144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388620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price_change_percentage_24h  —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6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24-hour price movement, as a percentage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535424"/>
            <a:ext cx="91440" cy="9144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4407408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total_supply / circulating_supply  —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6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supply figures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5056632"/>
            <a:ext cx="91440" cy="9144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4928616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(calculated)  —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6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− Low, the 24h dollar trading range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577840"/>
            <a:ext cx="91440" cy="9144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5449824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(calculated)  —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6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label: HIGH RISK / LOW RISK (see Chart Walkthrough)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903720" y="1508760"/>
            <a:ext cx="4754880" cy="4800600"/>
          </a:xfrm>
          <a:prstGeom prst="roundRect">
            <a:avLst>
              <a:gd name="adj" fmla="val 1538"/>
            </a:avLst>
          </a:prstGeom>
          <a:solidFill>
            <a:srgbClr val="0E111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15200" y="17830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SNAPSHOT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0" y="21945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$2.25T</a:t>
            </a:r>
            <a:endParaRPr lang="en-US" sz="21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0" y="26974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market cap, top 100 coins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7315200" y="318211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$114.9B</a:t>
            </a:r>
            <a:endParaRPr lang="en-US" sz="21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0" y="368503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24h trading volume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7315200" y="4169664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 / 21</a:t>
            </a:r>
            <a:endParaRPr lang="en-US" sz="2100" dirty="0"/>
          </a:p>
        </p:txBody>
      </p:sp>
      <p:sp>
        <p:nvSpPr>
          <p:cNvPr id="28" name="Text 26"/>
          <p:cNvSpPr txBox="1"/>
          <p:nvPr/>
        </p:nvSpPr>
        <p:spPr>
          <a:xfrm>
            <a:off x="7315200" y="4672584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Coins down vs. up in the last 24h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7315200" y="5157216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Jun 17, 2026</a:t>
            </a:r>
            <a:endParaRPr lang="en-US" sz="2100" dirty="0"/>
          </a:p>
        </p:txBody>
      </p:sp>
      <p:sp>
        <p:nvSpPr>
          <p:cNvPr id="30" name="Text 28"/>
          <p:cNvSpPr txBox="1"/>
          <p:nvPr/>
        </p:nvSpPr>
        <p:spPr>
          <a:xfrm>
            <a:off x="7315200" y="566013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date embedded in the model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8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CRYPTOCURRENCY MARKET DASHBOARD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DASHBOARD OVERVIEW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Pages, One Market Story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4F5F7"/>
          </a:solidFill>
          <a:ln w="12700">
            <a:solidFill>
              <a:srgbClr val="E3E9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46504"/>
            <a:ext cx="484632" cy="484632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746504"/>
            <a:ext cx="48463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7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78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60020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Cap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4297680" y="1600200"/>
            <a:ext cx="7086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6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table ranked by market capitalization, with 24h $ and % change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51460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4F5F7"/>
          </a:solidFill>
          <a:ln w="12700">
            <a:solidFill>
              <a:srgbClr val="E3E9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660904"/>
            <a:ext cx="484632" cy="484632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2660904"/>
            <a:ext cx="48463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7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78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251460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297680" y="2514600"/>
            <a:ext cx="7086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6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current price, 24h high/low, and 24h $ price change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42900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4F5F7"/>
          </a:solidFill>
          <a:ln w="12700">
            <a:solidFill>
              <a:srgbClr val="E3E9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575304"/>
            <a:ext cx="484632" cy="484632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3575304"/>
            <a:ext cx="48463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7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78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342900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Calculator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4297680" y="3429000"/>
            <a:ext cx="7086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6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coin and a quantity; see the total cost instantly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34340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4F5F7"/>
          </a:solidFill>
          <a:ln w="12700">
            <a:solidFill>
              <a:srgbClr val="E3E9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489704"/>
            <a:ext cx="484632" cy="484632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4489704"/>
            <a:ext cx="48463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7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78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434340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Overview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4297680" y="4343400"/>
            <a:ext cx="7086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6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and cards built around the HIGH RISK / LOW RISK label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525780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4F5F7"/>
          </a:solidFill>
          <a:ln w="12700">
            <a:solidFill>
              <a:srgbClr val="E3E9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5404104"/>
            <a:ext cx="484632" cy="484632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77240" y="5404104"/>
            <a:ext cx="48463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7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78" dirty="0"/>
          </a:p>
        </p:txBody>
      </p:sp>
      <p:sp>
        <p:nvSpPr>
          <p:cNvPr id="27" name="Text 25"/>
          <p:cNvSpPr txBox="1"/>
          <p:nvPr/>
        </p:nvSpPr>
        <p:spPr>
          <a:xfrm>
            <a:off x="1463040" y="525780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Crypto Currency Analysis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4297680" y="5257800"/>
            <a:ext cx="7086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6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summary page: KPI cards, slicers, and a Low/High pie chart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8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CRYPTOCURRENCY MARKET DASHBOARD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CHART WALKTHROUGH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Cap: A Concentrated Market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69494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680960" y="15087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shows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7680960" y="1828800"/>
            <a:ext cx="4023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16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alone accounts for $1.295 trillion — 57.6% of the combined $2.25 trillion market cap across all 100 tracked coins. Add Ethereum and Tether and the top 3 already cover roughly 75% of total value.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7680960" y="36576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680960" y="3977640"/>
            <a:ext cx="4023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16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market this concentrated means Bitcoin's price action effectively sets the tone for the entire tracked universe — diversification within “crypto” doesn't mean diversification away from Bitcoin risk.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8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CRYPTOCURRENCY MARKET DASHBOARD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CHART WALKTHROUGH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Low/High Pie: Read With Care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822960" y="1554480"/>
          <a:ext cx="63093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452360" y="15087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shows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7452360" y="1828800"/>
            <a:ext cx="41605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16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source dashboard's pie adds every coin's 24-hour low price to every other coin's low price ($77,484 total), and does the same for highs ($79,930). The two slices land almost 50/50 — which looks tidy, but is mostly a mathematical artifact.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7452360" y="39319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452360" y="4251960"/>
            <a:ext cx="4160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16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Summing raw prices across assets on wildly different scales (Bitcoin at ~$65,000 next to stablecoins at ~$1) means a handful of high-priced coins dominate the total — this chart reflects price magnitude, not market importance or volatility.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8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CRYPTOCURRENCY MARKET DASHBOARD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CHART WALKTHROUGH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24-Hour Movers: Gainers vs. Losers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69494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680960" y="15087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shows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7680960" y="1828800"/>
            <a:ext cx="40233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16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Audiera fell 40.6% in 24 hours — the sharpest move on the board — while Aster gained 13.1%. Across all 100 coins, 76 were down, 21 were up, and 2 were flat, with the average move at −2.04%: a broad, market-wide pullback rather than an isolated event.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7680960" y="38862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680960" y="4206240"/>
            <a:ext cx="4023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16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single-coin moves (+13% to −41% in a day) show why low-market-cap tokens carry very different risk than the Bitcoin/Ethereum tier, even before applying any formal risk label.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8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CRYPTOCURRENCY MARKET DASHBOARD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CHART WALKTHROUGH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Type: A Volatility-Based Label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914400" y="1600200"/>
          <a:ext cx="61264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452360" y="15087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shows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7452360" y="1828800"/>
            <a:ext cx="41605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16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labels exactly 5 coins HIGH RISK — Bitcoin, Ethereum, Zcash, Tether Gold, and PAX Gold — based on which coins have the five largest 24-hour dollar trading ranges (High − Low). The remaining 94 are LOW RISK, with 1 coin (Circle USYC) unclassified due to missing 24h data.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7452360" y="41605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452360" y="4480560"/>
            <a:ext cx="4160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16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dollar-range rule, not a percentage-volatility rule — a useful distinction to flag before using the label for actual risk management.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8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CRYPTOCURRENCY MARKET DASHBOARD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CHART WALKTHROUGH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Price Calculator: A Live What-If Tool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E3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659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 (“Price Calculator”) pairs two slicers — coin name, and a quantity from 1 to 100 — with a single DAX measure: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280160" y="2514600"/>
            <a:ext cx="9601200" cy="1371600"/>
          </a:xfrm>
          <a:prstGeom prst="roundRect">
            <a:avLst>
              <a:gd name="adj" fmla="val 5333"/>
            </a:avLst>
          </a:prstGeom>
          <a:solidFill>
            <a:srgbClr val="1A2030"/>
          </a:solidFill>
          <a:ln w="9525">
            <a:solidFill>
              <a:srgbClr val="2DD4B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554480" y="2697480"/>
            <a:ext cx="9052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AMOUNT = </a:t>
            </a:r>
            <a:pPr algn="ctr"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SELECTEDVALUE(Quantity) </a:t>
            </a:r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</a:t>
            </a:r>
            <a:pPr algn="ctr" indent="0" marL="0">
              <a:buNone/>
            </a:pPr>
            <a:r>
              <a:rPr lang="en-US" sz="15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SELECTEDVALUE(Coin Price)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3200400"/>
            <a:ext cx="9052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8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viewer picks any of the 100 coins and a quantity, and the card instantly recalculates the total USD cost — e.g., 10 units of Solana at $71.79 returns $717.90.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4160520"/>
            <a:ext cx="11064240" cy="1828800"/>
          </a:xfrm>
          <a:prstGeom prst="roundRect">
            <a:avLst>
              <a:gd name="adj" fmla="val 4000"/>
            </a:avLst>
          </a:prstGeom>
          <a:solidFill>
            <a:srgbClr val="161B2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4389120"/>
            <a:ext cx="10424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8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turns a static price table into a lightweight investment planning tool — useful for quickly sizing a position without leaving the report, and a good template for adding portfolio-value or dollar-cost-averaging calculators later.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8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CRYPTOCURRENCY MARKET DASHBOARD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KPI SUMMARY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Numbers at a Glance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161B27"/>
          </a:solidFill>
          <a:ln w="9525">
            <a:solidFill>
              <a:srgbClr val="2DD4B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64792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$2.25T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231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Market Cap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7063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100 tracked coins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43400" y="160020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161B27"/>
          </a:solidFill>
          <a:ln w="9525">
            <a:solidFill>
              <a:srgbClr val="2DD4B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0" y="1764792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57.6%</a:t>
            </a:r>
            <a:endParaRPr lang="en-US" sz="2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4231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Dominance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77063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total tracked market cap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38160" y="160020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161B27"/>
          </a:solidFill>
          <a:ln w="9525">
            <a:solidFill>
              <a:srgbClr val="2DD4B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66760" y="1764792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$114.9B</a:t>
            </a:r>
            <a:endParaRPr lang="en-US" sz="2300" dirty="0"/>
          </a:p>
        </p:txBody>
      </p:sp>
      <p:sp>
        <p:nvSpPr>
          <p:cNvPr id="14" name="Text 12"/>
          <p:cNvSpPr txBox="1"/>
          <p:nvPr/>
        </p:nvSpPr>
        <p:spPr>
          <a:xfrm>
            <a:off x="8366760" y="24231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24h Trading Volume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366760" y="277063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across all 100 coins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56616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161B27"/>
          </a:solidFill>
          <a:ln w="9525">
            <a:solidFill>
              <a:srgbClr val="2DD4B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3730752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−2.04%</a:t>
            </a:r>
            <a:endParaRPr lang="en-US" sz="23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3891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24h Move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73659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 coins down, 21 up, 2 flat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43400" y="356616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161B27"/>
          </a:solidFill>
          <a:ln w="9525">
            <a:solidFill>
              <a:srgbClr val="2DD4B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0" y="3730752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+13.1% / −40.6%</a:t>
            </a:r>
            <a:endParaRPr lang="en-US" sz="23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0" y="43891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Widest 24h Swing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0" y="473659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Aster (best) vs. Audiera (worst)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138160" y="356616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161B27"/>
          </a:solidFill>
          <a:ln w="9525">
            <a:solidFill>
              <a:srgbClr val="2DD4B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366760" y="3730752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/ 100</a:t>
            </a:r>
            <a:endParaRPr lang="en-US" sz="2300" dirty="0"/>
          </a:p>
        </p:txBody>
      </p:sp>
      <p:sp>
        <p:nvSpPr>
          <p:cNvPr id="26" name="Text 24"/>
          <p:cNvSpPr txBox="1"/>
          <p:nvPr/>
        </p:nvSpPr>
        <p:spPr>
          <a:xfrm>
            <a:off x="8366760" y="43891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 Coins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366760" y="473659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largest 24h dollar trading range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8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CRYPTOCURRENCY MARKET DASHBOARD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KEY INSIGHTS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Dashboard Reveals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5760" cy="36576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4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499616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80" dirty="0">
                <a:solidFill>
                  <a:srgbClr val="16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tracked market is highly concentrated: Bitcoin alone is 57.6% of total market cap, and the top 3 coins (Bitcoin, Ethereum, Tether) cover roughly 75%.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331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4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276856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80" dirty="0">
                <a:solidFill>
                  <a:srgbClr val="16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snapshot captures a broad pullback — 76 of 100 coins declined in 24 hours, versus 21 gainers, with an average move of −2.04%.</a:t>
            </a:r>
            <a:endParaRPr lang="en-US" sz="128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365760" cy="36576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108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4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054096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80" dirty="0">
                <a:solidFill>
                  <a:srgbClr val="16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moves are concentrated in smaller coins: Audiera (−40.6%) and DeXe (−15.5%) moved far more than Bitcoin (−2.8%) or Ethereum (−4.0%) on the same day.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548640" y="3886200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886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4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831336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80" dirty="0">
                <a:solidFill>
                  <a:srgbClr val="16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 RISK label (5 coins) is driven by absolute dollar trading range, not percentage volatility — it flags high-priced coins like Bitcoin, Zcash, and the gold-backed tokens, not the day's most volatile percentage movers.</a:t>
            </a:r>
            <a:endParaRPr lang="en-US" sz="1280" dirty="0"/>
          </a:p>
        </p:txBody>
      </p:sp>
      <p:sp>
        <p:nvSpPr>
          <p:cNvPr id="16" name="Shape 14"/>
          <p:cNvSpPr/>
          <p:nvPr/>
        </p:nvSpPr>
        <p:spPr>
          <a:xfrm>
            <a:off x="548640" y="4663440"/>
            <a:ext cx="365760" cy="36576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4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608576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80" dirty="0">
                <a:solidFill>
                  <a:srgbClr val="16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18 of the 100 tracked coins are USD-pegged stablecoins (Tether, USDC, Dai, PayPal USD, and others), all correctly labeled LOW RISK.</a:t>
            </a:r>
            <a:endParaRPr lang="en-US" sz="1280" dirty="0"/>
          </a:p>
        </p:txBody>
      </p:sp>
      <p:sp>
        <p:nvSpPr>
          <p:cNvPr id="19" name="Shape 17"/>
          <p:cNvSpPr/>
          <p:nvPr/>
        </p:nvSpPr>
        <p:spPr>
          <a:xfrm>
            <a:off x="548640" y="5440680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5440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4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5385816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80" dirty="0">
                <a:solidFill>
                  <a:srgbClr val="16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Low/High comparison pie and any full-column SUM of price or supply fields should be read cautiously — aggregating raw values across assets of very different scale can mislead more than it informs.</a:t>
            </a:r>
            <a:endParaRPr lang="en-US" sz="128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8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CRYPTOCURRENCY MARKET DASHBOARD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SOLUTION DELIVERED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Dashboard Answers the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554480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concentration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4343400" y="1554480"/>
            <a:ext cx="7040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6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Cap table and this report's ranked bar chart make Bitcoin's 57.6% share, and the broader top-10 concentration, immediately visible.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651760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volatility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4343400" y="2651760"/>
            <a:ext cx="7040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6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Price table plus 24h % change fields let any viewer sort straight to the day's biggest gainers and losers.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74904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3749040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classification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4343400" y="3749040"/>
            <a:ext cx="7040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6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Risk page and RANK field surface the 5 HIGH RISK coins, with this report adding the missing explanation of how that label is calculated.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84632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4846320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planning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343400" y="4846320"/>
            <a:ext cx="7040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6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Price Calculator page turns coin + quantity into an instant total cost, with no manual math required.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8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CRYPTOCURRENCY MARKET DASHBOARD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RECOMMENDATIONS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Take This Next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4F5F7"/>
          </a:solidFill>
          <a:ln w="12700">
            <a:solidFill>
              <a:srgbClr val="E3E9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74520"/>
            <a:ext cx="502920" cy="50292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3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856232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a percentage-based risk tier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46888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 the dollar-range HIGH/LOW RISK label with a rule based on % volatility, so small, thinly-traded coins with big percentage swings aren't missed.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60020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4F5F7"/>
          </a:solidFill>
          <a:ln w="12700">
            <a:solidFill>
              <a:srgbClr val="E3E9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1874520"/>
            <a:ext cx="502920" cy="50292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8368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30" dirty="0"/>
          </a:p>
        </p:txBody>
      </p:sp>
      <p:sp>
        <p:nvSpPr>
          <p:cNvPr id="12" name="Text 10"/>
          <p:cNvSpPr txBox="1"/>
          <p:nvPr/>
        </p:nvSpPr>
        <p:spPr>
          <a:xfrm>
            <a:off x="7269480" y="1856232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Refresh on a schedule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246888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the model to a live API refresh (e.g. scheduled hourly pull) instead of a static snapshot, so the dashboard stays current.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4F5F7"/>
          </a:solidFill>
          <a:ln w="12700">
            <a:solidFill>
              <a:srgbClr val="E3E9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160520"/>
            <a:ext cx="502920" cy="50292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160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3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142232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Replace the raw-price pie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75488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the Low/High sum-of-price pie for a market-cap-weighted or volume-weighted view so high-priced coins don't dominate by construction.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09360" y="388620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4F5F7"/>
          </a:solidFill>
          <a:ln w="12700">
            <a:solidFill>
              <a:srgbClr val="E3E9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0" y="4160520"/>
            <a:ext cx="502920" cy="50292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83680" y="4160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30" dirty="0"/>
          </a:p>
        </p:txBody>
      </p:sp>
      <p:sp>
        <p:nvSpPr>
          <p:cNvPr id="22" name="Text 20"/>
          <p:cNvSpPr txBox="1"/>
          <p:nvPr/>
        </p:nvSpPr>
        <p:spPr>
          <a:xfrm>
            <a:off x="7269480" y="4142232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Extend the calculator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0" y="475488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running “portfolio” table so users can price out multiple coins and quantities at once, not just one at a time.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8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CRYPTOCURRENCY MARKET DASHBOARD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840480"/>
            <a:ext cx="6400800" cy="6400800"/>
          </a:xfrm>
          <a:prstGeom prst="ellipse">
            <a:avLst/>
          </a:prstGeom>
          <a:ln w="15875">
            <a:solidFill>
              <a:srgbClr val="2DD4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4480560"/>
            <a:ext cx="5120640" cy="5120640"/>
          </a:xfrm>
          <a:prstGeom prst="ellipse">
            <a:avLst/>
          </a:prstGeom>
          <a:ln w="15875">
            <a:solidFill>
              <a:srgbClr val="8B5C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SUMMARY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49808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91640"/>
            <a:ext cx="64008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Power BI dashboard condenses a 100-coin, 30-field cryptocurrency snapshot into five focused pages covering market cap, price, risk, and an interactive cost calculator. The clearest finding is concentration: Bitcoin alone represents more than half of tracked market value, and the market moved broadly lower on the snapshot date. The custom risk label is a useful starting point but reflects dollar-range, not percentage volatility — a distinction this report surfaces so the number is used correctly.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4572000"/>
            <a:ext cx="109728" cy="10972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4416552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dominates the tracked market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5010912"/>
            <a:ext cx="109728" cy="10972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4855464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24h pullback across most coins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5449824"/>
            <a:ext cx="109728" cy="10972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5294376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label uses $ range, not % volatility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5888736"/>
            <a:ext cx="109728" cy="10972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5733288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calculator aids quick decisions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406640" y="1691640"/>
            <a:ext cx="4206240" cy="4480560"/>
          </a:xfrm>
          <a:prstGeom prst="roundRect">
            <a:avLst>
              <a:gd name="adj" fmla="val 1739"/>
            </a:avLst>
          </a:prstGeom>
          <a:solidFill>
            <a:srgbClr val="161B27"/>
          </a:solidFill>
          <a:ln w="9525">
            <a:solidFill>
              <a:srgbClr val="2DD4B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0" y="19659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0" y="228600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Investment Research &amp;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Analytics Teams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0" y="32461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0" y="3520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7772400" y="40233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0" y="4297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100 Coins, Global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7772400" y="48006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0" y="507492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Team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analytics@example-fintech.com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7772400" y="58978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2026-09-14T09:22:10Z</dcterms:created>
  <dcterms:modified xsi:type="dcterms:W3CDTF">2026-09-14T09:22:10Z</dcterms:modified>
</cp:coreProperties>
</file>